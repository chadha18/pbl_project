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60" r:id="rId7"/>
    <p:sldId id="262" r:id="rId8"/>
    <p:sldId id="261" r:id="rId9"/>
    <p:sldId id="259" r:id="rId10"/>
    <p:sldId id="268" r:id="rId11"/>
    <p:sldId id="266" r:id="rId12"/>
    <p:sldId id="267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3"/>
  </p:normalViewPr>
  <p:slideViewPr>
    <p:cSldViewPr snapToGrid="0">
      <p:cViewPr varScale="1">
        <p:scale>
          <a:sx n="120" d="100"/>
          <a:sy n="120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author/55468916000/david-a-wood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9604"/>
            <a:ext cx="9144000" cy="97819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PetroPhysical Parameter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Harshit Chadha</a:t>
            </a:r>
          </a:p>
          <a:p>
            <a:r>
              <a:rPr lang="en-IN" dirty="0"/>
              <a:t>23FE10CSE00290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Arpita Baronia</a:t>
            </a:r>
          </a:p>
          <a:p>
            <a:endParaRPr lang="en-IN" dirty="0"/>
          </a:p>
        </p:txBody>
      </p:sp>
      <p:pic>
        <p:nvPicPr>
          <p:cNvPr id="8" name="Picture 7" descr="A black and white text  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Methodology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Outcome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har char="•"/>
            </a:pPr>
            <a:r>
              <a:rPr lang="en-IN" dirty="0"/>
              <a:t>Petrophysical parameter prediction uses machine learning to estimate reservoir properties like porosity and water saturation</a:t>
            </a:r>
          </a:p>
          <a:p>
            <a:pPr marL="0" indent="0">
              <a:buChar char="•"/>
            </a:pPr>
            <a:r>
              <a:rPr lang="en-IN" dirty="0"/>
              <a:t>These parameters are critical for oil and gas exploration and reservoir characterization</a:t>
            </a:r>
          </a:p>
          <a:p>
            <a:pPr marL="0" indent="0">
              <a:buChar char="•"/>
            </a:pPr>
            <a:r>
              <a:rPr lang="en-IN" dirty="0"/>
              <a:t>Traditional methods rely on complex physics equations like Archie’s equation</a:t>
            </a:r>
          </a:p>
          <a:p>
            <a:pPr marL="0" indent="0">
              <a:buChar char="•"/>
            </a:pPr>
            <a:r>
              <a:rPr lang="en-IN" dirty="0"/>
              <a:t>ML models (Random Forest, XGBoost, KNN) can learn patterns from well log data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F164A-BDD2-C47F-8028-C7E717A29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CAB52-4CF0-C291-369A-44DEA9849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Petrophysical parameters such as </a:t>
            </a:r>
            <a:r>
              <a:rPr lang="en-US" sz="2600" b="1" dirty="0"/>
              <a:t>porosity</a:t>
            </a:r>
            <a:r>
              <a:rPr lang="en-US" sz="2600" dirty="0"/>
              <a:t> and </a:t>
            </a:r>
            <a:r>
              <a:rPr lang="en-US" sz="2600" b="1" dirty="0"/>
              <a:t>water saturation</a:t>
            </a:r>
            <a:r>
              <a:rPr lang="en-US" sz="2600" dirty="0"/>
              <a:t> are essential for reservoir characterization and hydrocarbon evaluation.</a:t>
            </a:r>
          </a:p>
          <a:p>
            <a:r>
              <a:rPr lang="en-US" sz="2600" dirty="0"/>
              <a:t>Traditional estimation techniques rely on </a:t>
            </a:r>
            <a:r>
              <a:rPr lang="en-US" sz="2600" b="1" dirty="0"/>
              <a:t>empirical models</a:t>
            </a:r>
            <a:r>
              <a:rPr lang="en-US" sz="2600" dirty="0"/>
              <a:t>, most notably </a:t>
            </a:r>
            <a:r>
              <a:rPr lang="en-US" sz="2600" b="1" dirty="0"/>
              <a:t>Archie’s equation</a:t>
            </a:r>
            <a:r>
              <a:rPr lang="en-US" sz="2600" dirty="0"/>
              <a:t>, which relates resistivity and porosity to water saturation.</a:t>
            </a:r>
          </a:p>
          <a:p>
            <a:r>
              <a:rPr lang="en-US" sz="2600" dirty="0"/>
              <a:t>These conventional methods work well in homogeneous formations but show </a:t>
            </a:r>
            <a:r>
              <a:rPr lang="en-US" sz="2600" b="1" dirty="0"/>
              <a:t>limited accuracy in heterogeneous reservoirs</a:t>
            </a:r>
            <a:r>
              <a:rPr lang="en-US" sz="2600" dirty="0"/>
              <a:t> due to strong assumptions about lithology and fluid distribution.</a:t>
            </a:r>
          </a:p>
          <a:p>
            <a:r>
              <a:rPr lang="en-US" sz="2600" dirty="0"/>
              <a:t>Manual interpretation of well-log data is </a:t>
            </a:r>
            <a:r>
              <a:rPr lang="en-US" sz="2600" b="1" dirty="0"/>
              <a:t>time-consuming</a:t>
            </a:r>
            <a:r>
              <a:rPr lang="en-US" sz="2600" dirty="0"/>
              <a:t>, highly </a:t>
            </a:r>
            <a:r>
              <a:rPr lang="en-US" sz="2600" b="1" dirty="0"/>
              <a:t>expert-dependent</a:t>
            </a:r>
            <a:r>
              <a:rPr lang="en-US" sz="2600" dirty="0"/>
              <a:t>, and sensitive to noise and measurement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6524-A39A-A7DA-AC72-34C4C68A8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507" y="365125"/>
            <a:ext cx="10515600" cy="1325563"/>
          </a:xfrm>
        </p:spPr>
        <p:txBody>
          <a:bodyPr/>
          <a:lstStyle/>
          <a:p>
            <a:r>
              <a:rPr lang="en-IN" dirty="0"/>
              <a:t>Literature 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74998-53A6-8970-37D9-708262EB5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670" y="1634239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Recent studies demonstrate the effectiveness of </a:t>
            </a:r>
            <a:r>
              <a:rPr lang="en-US" b="1" dirty="0"/>
              <a:t>machine learning techniques</a:t>
            </a:r>
            <a:r>
              <a:rPr lang="en-US" dirty="0"/>
              <a:t> such as </a:t>
            </a:r>
            <a:r>
              <a:rPr lang="en-US" b="1" dirty="0"/>
              <a:t>Random Forest, </a:t>
            </a:r>
            <a:r>
              <a:rPr lang="en-US" b="1" dirty="0" err="1"/>
              <a:t>XGBoost</a:t>
            </a:r>
            <a:r>
              <a:rPr lang="en-US" b="1" dirty="0"/>
              <a:t>, and KNN</a:t>
            </a:r>
            <a:r>
              <a:rPr lang="en-US" dirty="0"/>
              <a:t> for predicting petrophysical parameters from well-log data.</a:t>
            </a:r>
          </a:p>
          <a:p>
            <a:r>
              <a:rPr lang="en-US" dirty="0"/>
              <a:t>Tree-based ensemble models outperform traditional approaches by capturing </a:t>
            </a:r>
            <a:r>
              <a:rPr lang="en-US" b="1" dirty="0"/>
              <a:t>non-linear relationships</a:t>
            </a:r>
            <a:r>
              <a:rPr lang="en-US" dirty="0"/>
              <a:t> and handling correlated features efficiently.</a:t>
            </a:r>
          </a:p>
          <a:p>
            <a:r>
              <a:rPr lang="en-US" dirty="0"/>
              <a:t>Research emphasizes the role of </a:t>
            </a:r>
            <a:r>
              <a:rPr lang="en-US" b="1" dirty="0"/>
              <a:t>data preprocessing</a:t>
            </a:r>
            <a:r>
              <a:rPr lang="en-US" dirty="0"/>
              <a:t>, including feature selection and outlier treatment, to improve prediction accuracy.</a:t>
            </a:r>
          </a:p>
          <a:p>
            <a:r>
              <a:rPr lang="en-US" dirty="0"/>
              <a:t>Model performance is commonly evaluated using </a:t>
            </a:r>
            <a:r>
              <a:rPr lang="en-US" b="1" dirty="0"/>
              <a:t>R² and RMSE</a:t>
            </a:r>
            <a:r>
              <a:rPr lang="en-US" dirty="0"/>
              <a:t>, with visualization of </a:t>
            </a:r>
            <a:r>
              <a:rPr lang="en-US" b="1" dirty="0"/>
              <a:t>actual vs predicted values</a:t>
            </a:r>
            <a:r>
              <a:rPr lang="en-US" dirty="0"/>
              <a:t> to assess reliability.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985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/>
              <a:t>To develop accurate machine learning models for predicting critical petrophysical parameters (porosity and water saturation) from well log data to improve reservoir characterization efficiency.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har char="•"/>
            </a:pPr>
            <a:r>
              <a:rPr lang="en-IN" dirty="0"/>
              <a:t>Perform comprehensive exploratory data analysis and feature selection on well log data</a:t>
            </a:r>
          </a:p>
          <a:p>
            <a:pPr marL="0" indent="0">
              <a:buChar char="•"/>
            </a:pPr>
            <a:r>
              <a:rPr lang="en-IN" dirty="0"/>
              <a:t>Implement robust data cleaning techniques including outlier detection and depth-aware smoothing</a:t>
            </a:r>
          </a:p>
          <a:p>
            <a:pPr marL="0" indent="0">
              <a:buChar char="•"/>
            </a:pPr>
            <a:r>
              <a:rPr lang="en-IN" dirty="0"/>
              <a:t>Train and optimize multiple ML models (Random Forest, XGBoost, KNN) with hyperparameter tuning</a:t>
            </a:r>
          </a:p>
          <a:p>
            <a:pPr marL="0" indent="0">
              <a:buChar char="•"/>
            </a:pPr>
            <a:r>
              <a:rPr lang="en-IN" dirty="0"/>
              <a:t>Evaluate model performance using R² and RMSE metrics for porosity and water saturation predictions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 - 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har char="•"/>
            </a:pPr>
            <a:r>
              <a:rPr lang="en-IN" b="1" dirty="0"/>
              <a:t>Initial EDA:</a:t>
            </a:r>
            <a:r>
              <a:rPr lang="en-IN" dirty="0"/>
              <a:t> Statistical analysis and visualization of well log parameters</a:t>
            </a:r>
          </a:p>
          <a:p>
            <a:pPr marL="0" indent="0">
              <a:buChar char="•"/>
            </a:pPr>
            <a:r>
              <a:rPr lang="en-IN" b="1" dirty="0"/>
              <a:t>Data Validation:</a:t>
            </a:r>
            <a:r>
              <a:rPr lang="en-IN" dirty="0"/>
              <a:t> Identified invalid Sw values and recalculated using Archie’s equation</a:t>
            </a:r>
          </a:p>
          <a:p>
            <a:pPr marL="0" indent="0">
              <a:buChar char="•"/>
            </a:pPr>
            <a:r>
              <a:rPr lang="en-IN" b="1" dirty="0"/>
              <a:t>Feature Selection:</a:t>
            </a:r>
            <a:r>
              <a:rPr lang="en-IN" dirty="0"/>
              <a:t> Correlation-based analysis conducted in 3 stages to refine feature set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 -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har char="•"/>
            </a:pPr>
            <a:r>
              <a:rPr lang="en-IN" b="1" dirty="0"/>
              <a:t>Outlier Detection:</a:t>
            </a:r>
            <a:r>
              <a:rPr lang="en-IN" dirty="0"/>
              <a:t> IQR-based method to identify anomalous values</a:t>
            </a:r>
          </a:p>
          <a:p>
            <a:pPr marL="0" indent="0">
              <a:buChar char="•"/>
            </a:pPr>
            <a:r>
              <a:rPr lang="en-IN" b="1" dirty="0"/>
              <a:t>Local Median Replacement:</a:t>
            </a:r>
            <a:r>
              <a:rPr lang="en-IN" dirty="0"/>
              <a:t> Depth-aware smoothing technique preserves geological continuity</a:t>
            </a:r>
          </a:p>
          <a:p>
            <a:pPr marL="0" indent="0">
              <a:buChar char="•"/>
            </a:pPr>
            <a:r>
              <a:rPr lang="en-IN" b="1" dirty="0"/>
              <a:t>Global Winsorization:</a:t>
            </a:r>
            <a:r>
              <a:rPr lang="en-IN" dirty="0"/>
              <a:t> Caps extreme values to reduce influence of outliers</a:t>
            </a:r>
          </a:p>
          <a:p>
            <a:pPr marL="0" indent="0">
              <a:buChar char="•"/>
            </a:pPr>
            <a:r>
              <a:rPr lang="en-IN" b="1" dirty="0"/>
              <a:t>Before vs After:</a:t>
            </a:r>
            <a:r>
              <a:rPr lang="en-IN" dirty="0"/>
              <a:t> Visualization confirms data quality improvement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 - 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har char="•"/>
            </a:pPr>
            <a:r>
              <a:rPr lang="en-IN" b="1" dirty="0"/>
              <a:t>Dataset Splitting:</a:t>
            </a:r>
            <a:r>
              <a:rPr lang="en-IN" dirty="0"/>
              <a:t> 60-20-20 split for training, validation, and testing</a:t>
            </a:r>
          </a:p>
          <a:p>
            <a:pPr marL="0" indent="0">
              <a:buChar char="•"/>
            </a:pPr>
            <a:r>
              <a:rPr lang="en-IN" b="1" dirty="0"/>
              <a:t>Models Implemented:</a:t>
            </a:r>
            <a:r>
              <a:rPr lang="en-IN" dirty="0"/>
              <a:t> Random Forest, XGBoost, K-Nearest Neighbors</a:t>
            </a:r>
          </a:p>
          <a:p>
            <a:pPr marL="0" indent="0">
              <a:buChar char="•"/>
            </a:pPr>
            <a:r>
              <a:rPr lang="en-IN" b="1" dirty="0"/>
              <a:t>Hyperparameter Tuning:</a:t>
            </a:r>
            <a:r>
              <a:rPr lang="en-IN" dirty="0"/>
              <a:t> RandomizedSearchCV for optimal parameters</a:t>
            </a:r>
          </a:p>
          <a:p>
            <a:pPr marL="0" indent="0">
              <a:buChar char="•"/>
            </a:pPr>
            <a:r>
              <a:rPr lang="en-IN" b="1" dirty="0"/>
              <a:t>Evaluation Metrics:</a:t>
            </a:r>
            <a:r>
              <a:rPr lang="en-IN" dirty="0"/>
              <a:t> R² score and RMSE for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049036"/>
              </p:ext>
            </p:extLst>
          </p:nvPr>
        </p:nvGraphicFramePr>
        <p:xfrm>
          <a:off x="721242" y="1612974"/>
          <a:ext cx="10515600" cy="448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R²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 rowSpan="3"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Porosity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0.023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 vMerge="1">
                  <a:txBody>
                    <a:bodyPr/>
                    <a:lstStyle/>
                    <a:p>
                      <a:pPr algn="ctr"/>
                      <a:r>
                        <a:rPr lang="en-IN" sz="18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/>
                        <a:t>XGboost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0.018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 vMerge="1">
                  <a:txBody>
                    <a:bodyPr/>
                    <a:lstStyle/>
                    <a:p>
                      <a:pPr algn="ctr"/>
                      <a:r>
                        <a:rPr lang="en-IN" sz="180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0.93</a:t>
                      </a:r>
                    </a:p>
                    <a:p>
                      <a:pPr algn="ctr"/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0.027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 rowSpan="3"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Water 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0.045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 vMerge="1">
                  <a:txBody>
                    <a:bodyPr/>
                    <a:lstStyle/>
                    <a:p>
                      <a:pPr algn="ctr"/>
                      <a:r>
                        <a:rPr lang="en-IN" sz="18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/>
                        <a:t>XGboost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0.94</a:t>
                      </a:r>
                    </a:p>
                    <a:p>
                      <a:pPr algn="ctr"/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0.039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00">
                <a:tc vMerge="1">
                  <a:txBody>
                    <a:bodyPr/>
                    <a:lstStyle/>
                    <a:p>
                      <a:pPr algn="ctr"/>
                      <a:r>
                        <a:rPr lang="en-IN" sz="180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0.90</a:t>
                      </a:r>
                    </a:p>
                    <a:p>
                      <a:pPr algn="ctr"/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0.051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har char="•"/>
            </a:pPr>
            <a:r>
              <a:rPr lang="en-US" b="1" dirty="0"/>
              <a:t>Achieved:</a:t>
            </a:r>
          </a:p>
          <a:p>
            <a:pPr marL="457200" indent="0">
              <a:buChar char="◦"/>
            </a:pPr>
            <a:r>
              <a:rPr lang="en-US" dirty="0"/>
              <a:t>Successfully trained and evaluated multiple ML models for petrophysical prediction</a:t>
            </a:r>
          </a:p>
          <a:p>
            <a:pPr marL="457200" indent="0">
              <a:buChar char="◦"/>
            </a:pPr>
            <a:r>
              <a:rPr lang="en-US" dirty="0"/>
              <a:t>Developed robust data cleaning pipeline with outlier detection</a:t>
            </a:r>
          </a:p>
          <a:p>
            <a:pPr marL="457200" indent="0">
              <a:buChar char="◦"/>
            </a:pPr>
            <a:r>
              <a:rPr lang="en-US" dirty="0"/>
              <a:t>Created prediction UI for deployment</a:t>
            </a:r>
          </a:p>
          <a:p>
            <a:pPr marL="0" indent="0">
              <a:buChar char="•"/>
            </a:pPr>
            <a:r>
              <a:rPr lang="en-US" b="1" dirty="0"/>
              <a:t>Future Work:</a:t>
            </a:r>
          </a:p>
          <a:p>
            <a:pPr marL="457200" indent="0">
              <a:buChar char="◦"/>
            </a:pPr>
            <a:r>
              <a:rPr lang="en-US" dirty="0"/>
              <a:t>Real-time deployment on cloud platform</a:t>
            </a:r>
          </a:p>
          <a:p>
            <a:pPr marL="457200" indent="0">
              <a:buChar char="◦"/>
            </a:pPr>
            <a:r>
              <a:rPr lang="en-US" dirty="0"/>
              <a:t>Research paper submission (in progress)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74" y="1559810"/>
            <a:ext cx="10515600" cy="4351338"/>
          </a:xfrm>
        </p:spPr>
        <p:txBody>
          <a:bodyPr/>
          <a:lstStyle/>
          <a:p>
            <a:pPr marL="0" indent="0" algn="just">
              <a:buChar char="•"/>
            </a:pPr>
            <a:r>
              <a:rPr lang="en-IN" sz="1800" dirty="0"/>
              <a:t> Archie, G.E. (1942). The Electrical Resistivity Log as an Aid in Determining Some Reservoir    Characteristics</a:t>
            </a:r>
          </a:p>
          <a:p>
            <a:pPr algn="just"/>
            <a:r>
              <a:rPr lang="en-US" sz="1800" dirty="0"/>
              <a:t>Predicting porosity, permeability and water saturation applying an optimized nearest-</a:t>
            </a:r>
            <a:r>
              <a:rPr lang="en-US" sz="1800" dirty="0" err="1"/>
              <a:t>neighbour</a:t>
            </a:r>
            <a:r>
              <a:rPr lang="en-US" sz="1800" dirty="0"/>
              <a:t>, machine-learning and data-mining network of well-log data </a:t>
            </a:r>
            <a:r>
              <a:rPr lang="en-US" sz="1800" dirty="0">
                <a:hlinkClick r:id="rId2"/>
              </a:rPr>
              <a:t>A. Wood</a:t>
            </a:r>
            <a:endParaRPr lang="en-IN" sz="1800" dirty="0"/>
          </a:p>
          <a:p>
            <a:pPr marL="0" indent="0" algn="just">
              <a:buChar char="•"/>
            </a:pPr>
            <a:r>
              <a:rPr lang="en-IN" sz="1800" dirty="0"/>
              <a:t>Breiman, L. (2001). Random Forests. Machine Learning Journal</a:t>
            </a:r>
          </a:p>
          <a:p>
            <a:pPr marL="0" indent="0" algn="just">
              <a:buChar char="•"/>
            </a:pPr>
            <a:r>
              <a:rPr lang="en-IN" sz="1800" dirty="0"/>
              <a:t>Chen, T., &amp; Guestrin, C. (2016). XGBoost: A Scalable Tree Boosting System</a:t>
            </a:r>
          </a:p>
          <a:p>
            <a:pPr marL="0" indent="0" algn="just">
              <a:buChar char="•"/>
            </a:pPr>
            <a:r>
              <a:rPr lang="en-IN" sz="1800" dirty="0"/>
              <a:t>Scikit-learn Documentation - Machine Learning in Python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629</Words>
  <Application>Microsoft Macintosh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PetroPhysical Parameter Prediction</vt:lpstr>
      <vt:lpstr>Outline</vt:lpstr>
      <vt:lpstr>Introduction</vt:lpstr>
      <vt:lpstr>Literature Review</vt:lpstr>
      <vt:lpstr>Literature Review</vt:lpstr>
      <vt:lpstr>Problem Statement</vt:lpstr>
      <vt:lpstr>Objectives</vt:lpstr>
      <vt:lpstr>Methodology - Data Exploration</vt:lpstr>
      <vt:lpstr>Methodology - Data Cleaning</vt:lpstr>
      <vt:lpstr>Methodology - Model Training</vt:lpstr>
      <vt:lpstr>Results</vt:lpstr>
      <vt:lpstr>Outcome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[BTECH-005-2023-24] HARSHIT CHADHA</cp:lastModifiedBy>
  <cp:revision>10</cp:revision>
  <dcterms:created xsi:type="dcterms:W3CDTF">2025-09-29T05:03:41Z</dcterms:created>
  <dcterms:modified xsi:type="dcterms:W3CDTF">2026-02-15T16:24:03Z</dcterms:modified>
</cp:coreProperties>
</file>